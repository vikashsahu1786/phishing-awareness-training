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30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" Target="slide1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" Target="slide1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" Target="slide1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" Target="slide1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" Target="slide1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" Target="slide1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" Target="slide1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" Target="slide2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" Target="slide2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" Target="slide2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" Target="slide2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731520"/>
            <a:ext cx="4754880" cy="4754880"/>
          </a:xfrm>
          <a:prstGeom prst="ellipse">
            <a:avLst/>
          </a:prstGeom>
          <a:solidFill>
            <a:srgbClr val="FF6B35">
              <a:alpha val="15000"/>
            </a:srgbClr>
          </a:solidFill>
          <a:ln w="12700">
            <a:solidFill>
              <a:srgbClr val="FF6B35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766560" y="2377440"/>
            <a:ext cx="3291840" cy="3291840"/>
          </a:xfrm>
          <a:prstGeom prst="ellipse">
            <a:avLst/>
          </a:prstGeom>
          <a:solidFill>
            <a:srgbClr val="FF6B35">
              <a:alpha val="8000"/>
            </a:srgbClr>
          </a:solidFill>
          <a:ln w="12700">
            <a:solidFill>
              <a:srgbClr val="FF6B35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48640" y="640080"/>
            <a:ext cx="914400" cy="9144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886968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78308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Awareness Training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2461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take the bait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Cyber Security Internship · Task 2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Vikash Sahu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0" cy="5143500"/>
          </a:xfrm>
          <a:prstGeom prst="rect">
            <a:avLst/>
          </a:prstGeom>
          <a:solidFill>
            <a:srgbClr val="14102B"/>
          </a:solidFill>
          <a:ln w="12700">
            <a:solidFill>
              <a:srgbClr val="14102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822960" y="3566160"/>
            <a:ext cx="2377440" cy="2377440"/>
          </a:xfrm>
          <a:prstGeom prst="ellipse">
            <a:avLst/>
          </a:prstGeom>
          <a:solidFill>
            <a:srgbClr val="FF6B35">
              <a:alpha val="12000"/>
            </a:srgbClr>
          </a:solidFill>
          <a:ln w="12700">
            <a:solidFill>
              <a:srgbClr val="FF6B35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65760" y="502920"/>
            <a:ext cx="777240" cy="7772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615" y="712775"/>
            <a:ext cx="357530" cy="3575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65760" y="150876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Phishing?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35204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fake message built to make you act before you think.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017520" y="5029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tricks you into giving away passwords, money or personal data, or into installing malware.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017520" y="160020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3F1FB"/>
          </a:solidFill>
          <a:ln w="12700">
            <a:solidFill>
              <a:srgbClr val="F3F1FB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3154680" y="1737360"/>
            <a:ext cx="502920" cy="5029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0468" y="1873148"/>
            <a:ext cx="231343" cy="23134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794760" y="17373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phishing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154680" y="23317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fake emails copying banks and shops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943600" y="160020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3F1FB"/>
          </a:solidFill>
          <a:ln w="12700">
            <a:solidFill>
              <a:srgbClr val="F3F1FB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6080760" y="1737360"/>
            <a:ext cx="502920" cy="5029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6548" y="1873148"/>
            <a:ext cx="231343" cy="23134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720840" y="17373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 phishing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080760" y="23317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message aimed at one target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3017520" y="310896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3F1FB"/>
          </a:solidFill>
          <a:ln w="12700">
            <a:solidFill>
              <a:srgbClr val="F3F1FB"/>
            </a:solidFill>
            <a:prstDash val="solid"/>
          </a:ln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3154680" y="3246120"/>
            <a:ext cx="502920" cy="5029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0468" y="3381908"/>
            <a:ext cx="231343" cy="23134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3794760" y="32461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Smishing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3154680" y="38404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SMS or chat message with a link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5943600" y="310896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3F1FB"/>
          </a:solidFill>
          <a:ln w="12700">
            <a:solidFill>
              <a:srgbClr val="F3F1FB"/>
            </a:solidFill>
            <a:prstDash val="solid"/>
          </a:ln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6080760" y="3246120"/>
            <a:ext cx="502920" cy="5029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6548" y="3381908"/>
            <a:ext cx="231343" cy="23134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720840" y="32461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Vishing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6080760" y="38404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call from a fake bank or IT agent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0" cy="5143500"/>
          </a:xfrm>
          <a:prstGeom prst="rect">
            <a:avLst/>
          </a:prstGeom>
          <a:solidFill>
            <a:srgbClr val="14102B"/>
          </a:solidFill>
          <a:ln w="12700">
            <a:solidFill>
              <a:srgbClr val="14102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822960" y="3566160"/>
            <a:ext cx="2377440" cy="2377440"/>
          </a:xfrm>
          <a:prstGeom prst="ellipse">
            <a:avLst/>
          </a:prstGeom>
          <a:solidFill>
            <a:srgbClr val="FF6B35">
              <a:alpha val="12000"/>
            </a:srgbClr>
          </a:solidFill>
          <a:ln w="12700">
            <a:solidFill>
              <a:srgbClr val="FF6B35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65760" y="502920"/>
            <a:ext cx="777240" cy="7772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615" y="712775"/>
            <a:ext cx="357530" cy="3575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65760" y="150876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Phishing Attack Works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35204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steps from a fake message to a stolen account.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383280" y="914400"/>
            <a:ext cx="0" cy="329184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3840480" y="548640"/>
            <a:ext cx="4846320" cy="713232"/>
          </a:xfrm>
          <a:prstGeom prst="roundRect">
            <a:avLst>
              <a:gd name="adj" fmla="val 15385"/>
            </a:avLst>
          </a:prstGeom>
          <a:solidFill>
            <a:srgbClr val="F3F1FB"/>
          </a:solidFill>
          <a:ln w="12700">
            <a:solidFill>
              <a:srgbClr val="F3F1FB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3063240" y="630936"/>
            <a:ext cx="548640" cy="5486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3063240" y="6309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023360" y="548640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Bait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120640" y="548640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attacker sends a convincing fake message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840480" y="1371600"/>
            <a:ext cx="4846320" cy="713232"/>
          </a:xfrm>
          <a:prstGeom prst="roundRect">
            <a:avLst>
              <a:gd name="adj" fmla="val 15385"/>
            </a:avLst>
          </a:prstGeom>
          <a:solidFill>
            <a:srgbClr val="F3F1FB"/>
          </a:solidFill>
          <a:ln w="12700">
            <a:solidFill>
              <a:srgbClr val="F3F1FB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3063240" y="1453896"/>
            <a:ext cx="548640" cy="5486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3063240" y="1453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023360" y="1371600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120640" y="1371600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or fear pushes you to act fast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3840480" y="2194560"/>
            <a:ext cx="4846320" cy="713232"/>
          </a:xfrm>
          <a:prstGeom prst="roundRect">
            <a:avLst>
              <a:gd name="adj" fmla="val 15385"/>
            </a:avLst>
          </a:prstGeom>
          <a:solidFill>
            <a:srgbClr val="F3F1FB"/>
          </a:solidFill>
          <a:ln w="12700">
            <a:solidFill>
              <a:srgbClr val="F3F1FB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3063240" y="2276856"/>
            <a:ext cx="548640" cy="5486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3063240" y="22768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4023360" y="2194560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120640" y="2194560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open a link or attachment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3840480" y="3017520"/>
            <a:ext cx="4846320" cy="713232"/>
          </a:xfrm>
          <a:prstGeom prst="roundRect">
            <a:avLst>
              <a:gd name="adj" fmla="val 15385"/>
            </a:avLst>
          </a:prstGeom>
          <a:solidFill>
            <a:srgbClr val="F3F1FB"/>
          </a:solidFill>
          <a:ln w="12700">
            <a:solidFill>
              <a:srgbClr val="F3F1FB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3063240" y="3099816"/>
            <a:ext cx="548640" cy="5486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3063240" y="30998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4023360" y="3017520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Steal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120640" y="3017520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fake page captures your login or OTP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3840480" y="3840480"/>
            <a:ext cx="4846320" cy="713232"/>
          </a:xfrm>
          <a:prstGeom prst="roundRect">
            <a:avLst>
              <a:gd name="adj" fmla="val 15385"/>
            </a:avLst>
          </a:prstGeom>
          <a:solidFill>
            <a:srgbClr val="F3F1FB"/>
          </a:solidFill>
          <a:ln w="12700">
            <a:solidFill>
              <a:srgbClr val="F3F1FB"/>
            </a:solidFill>
            <a:prstDash val="solid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3063240" y="3922776"/>
            <a:ext cx="548640" cy="5486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 txBox="1"/>
          <p:nvPr/>
        </p:nvSpPr>
        <p:spPr>
          <a:xfrm>
            <a:off x="3063240" y="39227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4023360" y="3840480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Misuse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120640" y="3840480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takeover, money loss or malware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0" cy="5143500"/>
          </a:xfrm>
          <a:prstGeom prst="rect">
            <a:avLst/>
          </a:prstGeom>
          <a:solidFill>
            <a:srgbClr val="14102B"/>
          </a:solidFill>
          <a:ln w="12700">
            <a:solidFill>
              <a:srgbClr val="14102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822960" y="3566160"/>
            <a:ext cx="2377440" cy="2377440"/>
          </a:xfrm>
          <a:prstGeom prst="ellipse">
            <a:avLst/>
          </a:prstGeom>
          <a:solidFill>
            <a:srgbClr val="FF6B35">
              <a:alpha val="12000"/>
            </a:srgbClr>
          </a:solidFill>
          <a:ln w="12700">
            <a:solidFill>
              <a:srgbClr val="FF6B35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65760" y="502920"/>
            <a:ext cx="777240" cy="7772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615" y="712775"/>
            <a:ext cx="357530" cy="3575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65760" y="150876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Engineering Tactics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35204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target human emotions, not computers.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017520" y="548640"/>
            <a:ext cx="1783080" cy="1920240"/>
          </a:xfrm>
          <a:prstGeom prst="roundRect">
            <a:avLst>
              <a:gd name="adj" fmla="val 6154"/>
            </a:avLst>
          </a:prstGeom>
          <a:solidFill>
            <a:srgbClr val="F3F1FB"/>
          </a:solidFill>
          <a:ln w="12700">
            <a:solidFill>
              <a:srgbClr val="F3F1FB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3200400" y="731520"/>
            <a:ext cx="548640" cy="5486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533" y="879653"/>
            <a:ext cx="252374" cy="25237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200400" y="1417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Urgency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200400" y="18288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in 24 hours or lose access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937760" y="548640"/>
            <a:ext cx="1783080" cy="1920240"/>
          </a:xfrm>
          <a:prstGeom prst="roundRect">
            <a:avLst>
              <a:gd name="adj" fmla="val 6154"/>
            </a:avLst>
          </a:prstGeom>
          <a:solidFill>
            <a:srgbClr val="F3F1FB"/>
          </a:solidFill>
          <a:ln w="12700">
            <a:solidFill>
              <a:srgbClr val="F3F1FB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5120640" y="731520"/>
            <a:ext cx="548640" cy="5486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8773" y="879653"/>
            <a:ext cx="252374" cy="25237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120640" y="1417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Authority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5120640" y="18288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Pretends to be your boss, bank or IT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858000" y="548640"/>
            <a:ext cx="1783080" cy="1920240"/>
          </a:xfrm>
          <a:prstGeom prst="roundRect">
            <a:avLst>
              <a:gd name="adj" fmla="val 6154"/>
            </a:avLst>
          </a:prstGeom>
          <a:solidFill>
            <a:srgbClr val="F3F1FB"/>
          </a:solidFill>
          <a:ln w="12700">
            <a:solidFill>
              <a:srgbClr val="F3F1FB"/>
            </a:solidFill>
            <a:prstDash val="solid"/>
          </a:ln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7040880" y="731520"/>
            <a:ext cx="548640" cy="5486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9013" y="879653"/>
            <a:ext cx="252374" cy="25237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040880" y="1417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Fear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040880" y="18288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account is hacked or a fine is due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3017520" y="2651760"/>
            <a:ext cx="1783080" cy="1920240"/>
          </a:xfrm>
          <a:prstGeom prst="roundRect">
            <a:avLst>
              <a:gd name="adj" fmla="val 6154"/>
            </a:avLst>
          </a:prstGeom>
          <a:solidFill>
            <a:srgbClr val="F3F1FB"/>
          </a:solidFill>
          <a:ln w="12700">
            <a:solidFill>
              <a:srgbClr val="F3F1FB"/>
            </a:solidFill>
            <a:prstDash val="solid"/>
          </a:ln>
        </p:spPr>
        <p:txBody>
          <a:bodyPr/>
          <a:p/>
        </p:txBody>
      </p:sp>
      <p:sp>
        <p:nvSpPr>
          <p:cNvPr id="24" name="Shape 18"/>
          <p:cNvSpPr/>
          <p:nvPr/>
        </p:nvSpPr>
        <p:spPr>
          <a:xfrm>
            <a:off x="3200400" y="2834640"/>
            <a:ext cx="548640" cy="5486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8533" y="2982773"/>
            <a:ext cx="252374" cy="25237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3200400" y="3520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Greed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3200400" y="39319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won a prize or a refund is waiting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4937760" y="2651760"/>
            <a:ext cx="1783080" cy="1920240"/>
          </a:xfrm>
          <a:prstGeom prst="roundRect">
            <a:avLst>
              <a:gd name="adj" fmla="val 6154"/>
            </a:avLst>
          </a:prstGeom>
          <a:solidFill>
            <a:srgbClr val="F3F1FB"/>
          </a:solidFill>
          <a:ln w="12700">
            <a:solidFill>
              <a:srgbClr val="F3F1FB"/>
            </a:solidFill>
            <a:prstDash val="solid"/>
          </a:ln>
        </p:spPr>
        <p:txBody>
          <a:bodyPr/>
          <a:p/>
        </p:txBody>
      </p:sp>
      <p:sp>
        <p:nvSpPr>
          <p:cNvPr id="29" name="Shape 22"/>
          <p:cNvSpPr/>
          <p:nvPr/>
        </p:nvSpPr>
        <p:spPr>
          <a:xfrm>
            <a:off x="5120640" y="2834640"/>
            <a:ext cx="548640" cy="5486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8773" y="2982773"/>
            <a:ext cx="252374" cy="25237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5120640" y="3520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5120640" y="39319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like a friend or a known brand</a:t>
            </a:r>
            <a:endParaRPr lang="en-US" sz="1400" dirty="0"/>
          </a:p>
        </p:txBody>
      </p:sp>
      <p:sp>
        <p:nvSpPr>
          <p:cNvPr id="33" name="Shape 25"/>
          <p:cNvSpPr/>
          <p:nvPr/>
        </p:nvSpPr>
        <p:spPr>
          <a:xfrm>
            <a:off x="6858000" y="2651760"/>
            <a:ext cx="1783080" cy="1920240"/>
          </a:xfrm>
          <a:prstGeom prst="roundRect">
            <a:avLst>
              <a:gd name="adj" fmla="val 6154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34" name="Text 26"/>
          <p:cNvSpPr txBox="1"/>
          <p:nvPr/>
        </p:nvSpPr>
        <p:spPr>
          <a:xfrm>
            <a:off x="6995160" y="2651760"/>
            <a:ext cx="1508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tactic wants you to react fast. Slow down.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Phishing Email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21208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9050">
            <a:solidFill>
              <a:srgbClr val="C9C4E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1188720"/>
            <a:ext cx="5212080" cy="365760"/>
          </a:xfrm>
          <a:prstGeom prst="roundRect">
            <a:avLst>
              <a:gd name="adj" fmla="val 30000"/>
            </a:avLst>
          </a:prstGeom>
          <a:solidFill>
            <a:srgbClr val="14102B"/>
          </a:solidFill>
          <a:ln w="12700">
            <a:solidFill>
              <a:srgbClr val="14102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91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</a:t>
            </a:r>
            <a:pPr indent="0" marL="0">
              <a:buNone/>
            </a:pPr>
            <a:r>
              <a:rPr lang="en-US" sz="12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Team &lt;support@examp1ebank-alerts.example&gt;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48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</a:t>
            </a:r>
            <a:pPr indent="0" marL="0">
              <a:buNone/>
            </a:pPr>
            <a:r>
              <a:rPr lang="en-US" sz="12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URGENT: Account suspended in 24 hours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6060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Customer,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9718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detected unusual activity. Verify your account now or it will be permanently closed.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1737360" cy="411480"/>
          </a:xfrm>
          <a:prstGeom prst="roundRect">
            <a:avLst>
              <a:gd name="adj" fmla="val 17778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Account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160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2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 goes to: http://secure-verify.example/login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66360" y="1691640"/>
            <a:ext cx="365760" cy="36576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516636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166360" y="2148840"/>
            <a:ext cx="365760" cy="36576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516636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166360" y="2606040"/>
            <a:ext cx="365760" cy="36576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516636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166360" y="3063240"/>
            <a:ext cx="365760" cy="36576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516636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166360" y="3630168"/>
            <a:ext cx="365760" cy="36576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5166360" y="3630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43600" y="1280160"/>
            <a:ext cx="365760" cy="36576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594360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11887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Look-alike sender domain (1 instead of l)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943600" y="1975104"/>
            <a:ext cx="365760" cy="36576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5943600" y="1975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1883664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subject line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943600" y="2670048"/>
            <a:ext cx="365760" cy="36576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5943600" y="2670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446520" y="257860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greeting, no name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943600" y="3364992"/>
            <a:ext cx="365760" cy="36576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5943600" y="3364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446520" y="327355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to create pressure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943600" y="4059936"/>
            <a:ext cx="365760" cy="36576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 txBox="1"/>
          <p:nvPr/>
        </p:nvSpPr>
        <p:spPr>
          <a:xfrm>
            <a:off x="5943600" y="4059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446520" y="3968496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goes to a different domain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Link Like a Detective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14102B"/>
          </a:solidFill>
          <a:ln w="12700">
            <a:solidFill>
              <a:srgbClr val="14102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85800" y="11430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B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</a:t>
            </a:r>
            <a:pPr indent="0" marL="0">
              <a:buNone/>
            </a:pPr>
            <a:r>
              <a:rPr lang="en-US" sz="2000" dirty="0">
                <a:solidFill>
                  <a:srgbClr val="FFB8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examplebank.com.</a:t>
            </a:r>
            <a:pPr indent="0" marL="0">
              <a:buNone/>
            </a:pPr>
            <a:r>
              <a:rPr lang="en-US" sz="2000" b="1" dirty="0">
                <a:solidFill>
                  <a:srgbClr val="FF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secure-verify.xyz</a:t>
            </a:r>
            <a:pPr indent="0" marL="0">
              <a:buNone/>
            </a:pPr>
            <a:r>
              <a:rPr lang="en-US" sz="2000" dirty="0">
                <a:solidFill>
                  <a:srgbClr val="B8B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/login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4023360" cy="822960"/>
          </a:xfrm>
          <a:prstGeom prst="roundRect">
            <a:avLst>
              <a:gd name="adj" fmla="val 13333"/>
            </a:avLst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40080" y="21488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familiar, but it is only a subdomain the attacker added.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2148840"/>
            <a:ext cx="4023360" cy="822960"/>
          </a:xfrm>
          <a:prstGeom prst="roundRect">
            <a:avLst>
              <a:gd name="adj" fmla="val 13333"/>
            </a:avLst>
          </a:prstGeom>
          <a:solidFill>
            <a:srgbClr val="FFE1E4"/>
          </a:solidFill>
          <a:ln w="12700">
            <a:solidFill>
              <a:srgbClr val="FFE1E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4846320" y="21488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domain: this is who you are actually visiting.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154680"/>
            <a:ext cx="4023360" cy="640080"/>
          </a:xfrm>
          <a:prstGeom prst="roundRect">
            <a:avLst>
              <a:gd name="adj" fmla="val 17143"/>
            </a:avLst>
          </a:prstGeom>
          <a:solidFill>
            <a:srgbClr val="F3F1FB"/>
          </a:solidFill>
          <a:ln w="12700">
            <a:solidFill>
              <a:srgbClr val="F3F1FB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66928" y="3264408"/>
            <a:ext cx="420624" cy="420624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566928" y="3264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15468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domain = the domain name at the end of the hostname, just before the path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3154680"/>
            <a:ext cx="4023360" cy="640080"/>
          </a:xfrm>
          <a:prstGeom prst="roundRect">
            <a:avLst>
              <a:gd name="adj" fmla="val 17143"/>
            </a:avLst>
          </a:prstGeom>
          <a:solidFill>
            <a:srgbClr val="F3F1FB"/>
          </a:solidFill>
          <a:ln w="12700">
            <a:solidFill>
              <a:srgbClr val="F3F1FB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773168" y="3264408"/>
            <a:ext cx="420624" cy="420624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4773168" y="3264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349240" y="315468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look-alikes: 1 for l, 0 for o, rn for m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886200"/>
            <a:ext cx="4023360" cy="640080"/>
          </a:xfrm>
          <a:prstGeom prst="roundRect">
            <a:avLst>
              <a:gd name="adj" fmla="val 17143"/>
            </a:avLst>
          </a:prstGeom>
          <a:solidFill>
            <a:srgbClr val="F3F1FB"/>
          </a:solidFill>
          <a:ln w="12700">
            <a:solidFill>
              <a:srgbClr val="F3F1FB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566928" y="3995928"/>
            <a:ext cx="420624" cy="420624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566928" y="3995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388620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the address or use a bookmark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63440" y="3886200"/>
            <a:ext cx="4023360" cy="640080"/>
          </a:xfrm>
          <a:prstGeom prst="roundRect">
            <a:avLst>
              <a:gd name="adj" fmla="val 17143"/>
            </a:avLst>
          </a:prstGeom>
          <a:solidFill>
            <a:srgbClr val="F3F1FB"/>
          </a:solidFill>
          <a:ln w="12700">
            <a:solidFill>
              <a:srgbClr val="F3F1FB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773168" y="3995928"/>
            <a:ext cx="420624" cy="420624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4773168" y="3995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349240" y="388620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padlock means encrypted, not trustworthy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0" cy="5143500"/>
          </a:xfrm>
          <a:prstGeom prst="rect">
            <a:avLst/>
          </a:prstGeom>
          <a:solidFill>
            <a:srgbClr val="14102B"/>
          </a:solidFill>
          <a:ln w="12700">
            <a:solidFill>
              <a:srgbClr val="14102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822960" y="3566160"/>
            <a:ext cx="2377440" cy="2377440"/>
          </a:xfrm>
          <a:prstGeom prst="ellipse">
            <a:avLst/>
          </a:prstGeom>
          <a:solidFill>
            <a:srgbClr val="FF6B35">
              <a:alpha val="12000"/>
            </a:srgbClr>
          </a:solidFill>
          <a:ln w="12700">
            <a:solidFill>
              <a:srgbClr val="FF6B35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65760" y="502920"/>
            <a:ext cx="777240" cy="7772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615" y="712775"/>
            <a:ext cx="357530" cy="3575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65760" y="150876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SMS and Phone Scams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35204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patterns in India and everywhere else.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017520" y="548640"/>
            <a:ext cx="2743200" cy="1508760"/>
          </a:xfrm>
          <a:prstGeom prst="roundRect">
            <a:avLst>
              <a:gd name="adj" fmla="val 7273"/>
            </a:avLst>
          </a:prstGeom>
          <a:solidFill>
            <a:srgbClr val="F3F1FB"/>
          </a:solidFill>
          <a:ln w="12700">
            <a:solidFill>
              <a:srgbClr val="F3F1FB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3200400" y="6583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Fake KYC update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3200400" y="11430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says your KYC expires today and pushes a link.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943600" y="548640"/>
            <a:ext cx="2743200" cy="1508760"/>
          </a:xfrm>
          <a:prstGeom prst="roundRect">
            <a:avLst>
              <a:gd name="adj" fmla="val 7273"/>
            </a:avLst>
          </a:prstGeom>
          <a:solidFill>
            <a:srgbClr val="F3F1FB"/>
          </a:solidFill>
          <a:ln w="12700">
            <a:solidFill>
              <a:srgbClr val="F3F1FB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126480" y="6583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Refund or prize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126480" y="11430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 money back but asks you to approve a payment request.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017520" y="2194560"/>
            <a:ext cx="2743200" cy="1508760"/>
          </a:xfrm>
          <a:prstGeom prst="roundRect">
            <a:avLst>
              <a:gd name="adj" fmla="val 7273"/>
            </a:avLst>
          </a:prstGeom>
          <a:solidFill>
            <a:srgbClr val="F3F1FB"/>
          </a:solidFill>
          <a:ln w="12700">
            <a:solidFill>
              <a:srgbClr val="F3F1FB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3200400" y="23042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Courier or bill issue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3200400" y="27889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link to fix a delivery or an unpaid bill.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943600" y="2194560"/>
            <a:ext cx="2743200" cy="1508760"/>
          </a:xfrm>
          <a:prstGeom prst="roundRect">
            <a:avLst>
              <a:gd name="adj" fmla="val 7273"/>
            </a:avLst>
          </a:prstGeom>
          <a:solidFill>
            <a:srgbClr val="F3F1FB"/>
          </a:solidFill>
          <a:ln w="12700">
            <a:solidFill>
              <a:srgbClr val="F3F1FB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6126480" y="23042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OTP phone call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126480" y="27889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claims to be your bank and asks for a code.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3017520" y="3931920"/>
            <a:ext cx="5669280" cy="731520"/>
          </a:xfrm>
          <a:prstGeom prst="roundRect">
            <a:avLst>
              <a:gd name="adj" fmla="val 150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3246120" y="393192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share your OTP, PIN or CVV with anyone.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Examples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F3F1FB"/>
          </a:solidFill>
          <a:ln w="12700">
            <a:solidFill>
              <a:srgbClr val="F3F1F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40080" y="1234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2013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breach is reported to have begun with a phishing email to a heating and cooling vendor, whose stolen login helped attackers get in.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657600"/>
            <a:ext cx="2286000" cy="640080"/>
          </a:xfrm>
          <a:prstGeom prst="roundRect">
            <a:avLst>
              <a:gd name="adj" fmla="val 17143"/>
            </a:avLst>
          </a:prstGeom>
          <a:solidFill>
            <a:srgbClr val="14102B"/>
          </a:solidFill>
          <a:ln w="12700">
            <a:solidFill>
              <a:srgbClr val="14102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31520" y="3657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Partners are part of your attack surface.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14300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F3F1FB"/>
          </a:solidFill>
          <a:ln w="12700">
            <a:solidFill>
              <a:srgbClr val="F3F1F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3429000" y="1234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2016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John Podesta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fake Google security alert led to a look-alike login page, and his email account was compromised.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429000" y="3657600"/>
            <a:ext cx="2286000" cy="640080"/>
          </a:xfrm>
          <a:prstGeom prst="roundRect">
            <a:avLst>
              <a:gd name="adj" fmla="val 17143"/>
            </a:avLst>
          </a:prstGeom>
          <a:solidFill>
            <a:srgbClr val="14102B"/>
          </a:solidFill>
          <a:ln w="12700">
            <a:solidFill>
              <a:srgbClr val="14102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3520440" y="3657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Go to the real site yourself.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35040" y="114300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F3F1FB"/>
          </a:solidFill>
          <a:ln w="12700">
            <a:solidFill>
              <a:srgbClr val="F3F1F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6217920" y="1234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2020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Twitter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phoned employees posing as IT, got them to enter credentials on a fake page, and reached internal tools.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17920" y="3657600"/>
            <a:ext cx="2286000" cy="640080"/>
          </a:xfrm>
          <a:prstGeom prst="roundRect">
            <a:avLst>
              <a:gd name="adj" fmla="val 17143"/>
            </a:avLst>
          </a:prstGeom>
          <a:solidFill>
            <a:srgbClr val="14102B"/>
          </a:solidFill>
          <a:ln w="12700">
            <a:solidFill>
              <a:srgbClr val="14102B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309360" y="3657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Phone calls can be phishing too.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widely reported public accounts.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0" cy="5143500"/>
          </a:xfrm>
          <a:prstGeom prst="rect">
            <a:avLst/>
          </a:prstGeom>
          <a:solidFill>
            <a:srgbClr val="14102B"/>
          </a:solidFill>
          <a:ln w="12700">
            <a:solidFill>
              <a:srgbClr val="14102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822960" y="3566160"/>
            <a:ext cx="2377440" cy="2377440"/>
          </a:xfrm>
          <a:prstGeom prst="ellipse">
            <a:avLst/>
          </a:prstGeom>
          <a:solidFill>
            <a:srgbClr val="FF6B35">
              <a:alpha val="12000"/>
            </a:srgbClr>
          </a:solidFill>
          <a:ln w="12700">
            <a:solidFill>
              <a:srgbClr val="FF6B35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65760" y="502920"/>
            <a:ext cx="777240" cy="7772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615" y="712775"/>
            <a:ext cx="357530" cy="3575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65760" y="150876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4-Step Habit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35204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every time a message asks you to act.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017520" y="548640"/>
            <a:ext cx="2743200" cy="1920240"/>
          </a:xfrm>
          <a:prstGeom prst="roundRect">
            <a:avLst>
              <a:gd name="adj" fmla="val 5714"/>
            </a:avLst>
          </a:prstGeom>
          <a:solidFill>
            <a:srgbClr val="F3F1FB"/>
          </a:solidFill>
          <a:ln w="12700">
            <a:solidFill>
              <a:srgbClr val="F3F1FB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3200400" y="731520"/>
            <a:ext cx="685800" cy="6858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3200400" y="731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4023360" y="7315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3200400" y="1554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before clicking or replying.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943600" y="548640"/>
            <a:ext cx="2743200" cy="1920240"/>
          </a:xfrm>
          <a:prstGeom prst="roundRect">
            <a:avLst>
              <a:gd name="adj" fmla="val 5714"/>
            </a:avLst>
          </a:prstGeom>
          <a:solidFill>
            <a:srgbClr val="F3F1FB"/>
          </a:solidFill>
          <a:ln w="12700">
            <a:solidFill>
              <a:srgbClr val="F3F1FB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6126480" y="731520"/>
            <a:ext cx="685800" cy="6858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6126480" y="731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6949440" y="7315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126480" y="1554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sender, link and tone.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017520" y="2651760"/>
            <a:ext cx="2743200" cy="1920240"/>
          </a:xfrm>
          <a:prstGeom prst="roundRect">
            <a:avLst>
              <a:gd name="adj" fmla="val 5714"/>
            </a:avLst>
          </a:prstGeom>
          <a:solidFill>
            <a:srgbClr val="F3F1FB"/>
          </a:solidFill>
          <a:ln w="12700">
            <a:solidFill>
              <a:srgbClr val="F3F1FB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3200400" y="2834640"/>
            <a:ext cx="685800" cy="6858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3200400" y="2834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4023360" y="28346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3200400" y="3657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via the official app, site or number.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943600" y="2651760"/>
            <a:ext cx="2743200" cy="1920240"/>
          </a:xfrm>
          <a:prstGeom prst="roundRect">
            <a:avLst>
              <a:gd name="adj" fmla="val 5714"/>
            </a:avLst>
          </a:prstGeom>
          <a:solidFill>
            <a:srgbClr val="F3F1FB"/>
          </a:solidFill>
          <a:ln w="12700">
            <a:solidFill>
              <a:srgbClr val="F3F1FB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6126480" y="2834640"/>
            <a:ext cx="685800" cy="6858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6126480" y="2834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600" dirty="0"/>
          </a:p>
        </p:txBody>
      </p:sp>
      <p:sp>
        <p:nvSpPr>
          <p:cNvPr id="26" name="Text 23"/>
          <p:cNvSpPr txBox="1"/>
          <p:nvPr/>
        </p:nvSpPr>
        <p:spPr>
          <a:xfrm>
            <a:off x="6949440" y="28346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6126480" y="3657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IT or your bank, then delete it.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0" cy="5143500"/>
          </a:xfrm>
          <a:prstGeom prst="rect">
            <a:avLst/>
          </a:prstGeom>
          <a:solidFill>
            <a:srgbClr val="14102B"/>
          </a:solidFill>
          <a:ln w="12700">
            <a:solidFill>
              <a:srgbClr val="14102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822960" y="3566160"/>
            <a:ext cx="2377440" cy="2377440"/>
          </a:xfrm>
          <a:prstGeom prst="ellipse">
            <a:avLst/>
          </a:prstGeom>
          <a:solidFill>
            <a:srgbClr val="FF6B35">
              <a:alpha val="12000"/>
            </a:srgbClr>
          </a:solidFill>
          <a:ln w="12700">
            <a:solidFill>
              <a:srgbClr val="FF6B35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65760" y="502920"/>
            <a:ext cx="777240" cy="7772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615" y="712775"/>
            <a:ext cx="357530" cy="3575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65760" y="150876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35204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habits that block most phishing attempts.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017520" y="548640"/>
            <a:ext cx="2743200" cy="4069080"/>
          </a:xfrm>
          <a:prstGeom prst="roundRect">
            <a:avLst>
              <a:gd name="adj" fmla="val 4000"/>
            </a:avLst>
          </a:prstGeom>
          <a:solidFill>
            <a:srgbClr val="F3F1FB"/>
          </a:solidFill>
          <a:ln w="12700">
            <a:solidFill>
              <a:srgbClr val="F3F1FB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3200400" y="731520"/>
            <a:ext cx="1280160" cy="457200"/>
          </a:xfrm>
          <a:prstGeom prst="roundRect">
            <a:avLst>
              <a:gd name="adj" fmla="val 24000"/>
            </a:avLst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3200400" y="7315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3246120" y="1417320"/>
            <a:ext cx="2377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sender and link first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password manager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multi-factor login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messages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apps updated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943600" y="548640"/>
            <a:ext cx="2743200" cy="4069080"/>
          </a:xfrm>
          <a:prstGeom prst="roundRect">
            <a:avLst>
              <a:gd name="adj" fmla="val 4000"/>
            </a:avLst>
          </a:prstGeom>
          <a:solidFill>
            <a:srgbClr val="F3F1FB"/>
          </a:solidFill>
          <a:ln w="12700">
            <a:solidFill>
              <a:srgbClr val="F3F1FB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6126480" y="731520"/>
            <a:ext cx="1280160" cy="457200"/>
          </a:xfrm>
          <a:prstGeom prst="roundRect">
            <a:avLst>
              <a:gd name="adj" fmla="val 24000"/>
            </a:avLst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6126480" y="7315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172200" y="1417320"/>
            <a:ext cx="2377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unknown attachments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OTP, PIN or CVV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from message links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it for looking official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 for a deadline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Already Clicked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554480" cy="2194560"/>
          </a:xfrm>
          <a:prstGeom prst="roundRect">
            <a:avLst>
              <a:gd name="adj" fmla="val 7059"/>
            </a:avLst>
          </a:prstGeom>
          <a:solidFill>
            <a:srgbClr val="14102B"/>
          </a:solidFill>
          <a:ln w="12700">
            <a:solidFill>
              <a:srgbClr val="14102B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94360" y="1371600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943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01168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Stop. Do not enter or send more details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25980" y="1234440"/>
            <a:ext cx="1554480" cy="2194560"/>
          </a:xfrm>
          <a:prstGeom prst="roundRect">
            <a:avLst>
              <a:gd name="adj" fmla="val 7059"/>
            </a:avLst>
          </a:prstGeom>
          <a:solidFill>
            <a:srgbClr val="14102B"/>
          </a:solidFill>
          <a:ln w="12700">
            <a:solidFill>
              <a:srgbClr val="14102B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263140" y="1371600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22631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263140" y="201168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your password from a safe device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794760" y="1234440"/>
            <a:ext cx="1554480" cy="2194560"/>
          </a:xfrm>
          <a:prstGeom prst="roundRect">
            <a:avLst>
              <a:gd name="adj" fmla="val 7059"/>
            </a:avLst>
          </a:prstGeom>
          <a:solidFill>
            <a:srgbClr val="14102B"/>
          </a:solidFill>
          <a:ln w="12700">
            <a:solidFill>
              <a:srgbClr val="14102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931920" y="1371600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39319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201168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multi-factor authentication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63540" y="1234440"/>
            <a:ext cx="1554480" cy="2194560"/>
          </a:xfrm>
          <a:prstGeom prst="roundRect">
            <a:avLst>
              <a:gd name="adj" fmla="val 7059"/>
            </a:avLst>
          </a:prstGeom>
          <a:solidFill>
            <a:srgbClr val="14102B"/>
          </a:solidFill>
          <a:ln w="12700">
            <a:solidFill>
              <a:srgbClr val="14102B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600700" y="1371600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56007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600700" y="201168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your bank or IT, and block cards if needed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132320" y="1234440"/>
            <a:ext cx="1554480" cy="2194560"/>
          </a:xfrm>
          <a:prstGeom prst="roundRect">
            <a:avLst>
              <a:gd name="adj" fmla="val 7059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269480" y="1371600"/>
            <a:ext cx="457200" cy="457200"/>
          </a:xfrm>
          <a:prstGeom prst="ellipse">
            <a:avLst/>
          </a:prstGeom>
          <a:solidFill>
            <a:srgbClr val="14102B"/>
          </a:solidFill>
          <a:ln w="12700">
            <a:solidFill>
              <a:srgbClr val="14102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2694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201168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 incident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70332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F3F1FB"/>
          </a:solidFill>
          <a:ln w="12700">
            <a:solidFill>
              <a:srgbClr val="F3F1FB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685800" y="37033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India, report cyber fraud at cybercrime.gov.in or call the helpline 1930.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731520"/>
            <a:ext cx="4754880" cy="4754880"/>
          </a:xfrm>
          <a:prstGeom prst="ellipse">
            <a:avLst/>
          </a:prstGeom>
          <a:solidFill>
            <a:srgbClr val="FF6B35">
              <a:alpha val="15000"/>
            </a:srgbClr>
          </a:solidFill>
          <a:ln w="12700">
            <a:solidFill>
              <a:srgbClr val="FF6B35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731520"/>
            <a:ext cx="914400" cy="9144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978408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Yourself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questions. In slideshow mode, click "Show answer" to check each one.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3657600"/>
            <a:ext cx="2377440" cy="594360"/>
          </a:xfrm>
          <a:prstGeom prst="roundRect">
            <a:avLst>
              <a:gd name="adj" fmla="val 18462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48640" y="36576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Star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 quiz →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 of 5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92240" y="384048"/>
            <a:ext cx="2194560" cy="502920"/>
          </a:xfrm>
          <a:prstGeom prst="roundRect">
            <a:avLst>
              <a:gd name="adj" fmla="val 21818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492240" y="3840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Show answer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Show answer →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1234440"/>
          </a:xfrm>
          <a:prstGeom prst="roundRect">
            <a:avLst>
              <a:gd name="adj" fmla="val 8889"/>
            </a:avLst>
          </a:prstGeom>
          <a:solidFill>
            <a:srgbClr val="F3F1FB"/>
          </a:solidFill>
          <a:ln w="12700">
            <a:solidFill>
              <a:srgbClr val="F3F1F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85800" y="10972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email from "IT Support" says your password expires in 1 hour and asks you to click a link to keep access. What should you do?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C9C4E0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66928" y="2606040"/>
            <a:ext cx="384048" cy="384048"/>
          </a:xfrm>
          <a:prstGeom prst="ellipse">
            <a:avLst/>
          </a:prstGeom>
          <a:solidFill>
            <a:srgbClr val="14102B"/>
          </a:solidFill>
          <a:ln w="12700">
            <a:solidFill>
              <a:srgbClr val="14102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566928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51460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link quickly and log in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C9C4E0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66928" y="3291840"/>
            <a:ext cx="384048" cy="384048"/>
          </a:xfrm>
          <a:prstGeom prst="ellipse">
            <a:avLst/>
          </a:prstGeom>
          <a:solidFill>
            <a:srgbClr val="14102B"/>
          </a:solidFill>
          <a:ln w="12700">
            <a:solidFill>
              <a:srgbClr val="14102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566928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20040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to the email to ask if it is real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886200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C9C4E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66928" y="3977640"/>
            <a:ext cx="384048" cy="384048"/>
          </a:xfrm>
          <a:prstGeom prst="ellipse">
            <a:avLst/>
          </a:prstGeom>
          <a:solidFill>
            <a:srgbClr val="14102B"/>
          </a:solidFill>
          <a:ln w="12700">
            <a:solidFill>
              <a:srgbClr val="14102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566928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88620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click; contact IT through a known channel and report the email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1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92240" y="384048"/>
            <a:ext cx="2194560" cy="502920"/>
          </a:xfrm>
          <a:prstGeom prst="roundRect">
            <a:avLst>
              <a:gd name="adj" fmla="val 21818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492240" y="3840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Next question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1097280"/>
          </a:xfrm>
          <a:prstGeom prst="roundRect">
            <a:avLst>
              <a:gd name="adj" fmla="val 10000"/>
            </a:avLst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3716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4008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A6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143000"/>
            <a:ext cx="7040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click; contact IT through a known channel and report the email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8229600" cy="1645920"/>
          </a:xfrm>
          <a:prstGeom prst="roundRect">
            <a:avLst>
              <a:gd name="adj" fmla="val 6667"/>
            </a:avLst>
          </a:prstGeom>
          <a:solidFill>
            <a:srgbClr val="F3F1FB"/>
          </a:solidFill>
          <a:ln w="12700">
            <a:solidFill>
              <a:srgbClr val="F3F1F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85800" y="2560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0175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plus a link is a classic phishing pattern. Clicking or replying both engage the attacker. Check with IT using a number or portal you already know.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2 of 5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92240" y="384048"/>
            <a:ext cx="2194560" cy="502920"/>
          </a:xfrm>
          <a:prstGeom prst="roundRect">
            <a:avLst>
              <a:gd name="adj" fmla="val 21818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492240" y="3840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Show answer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Show answer →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1234440"/>
          </a:xfrm>
          <a:prstGeom prst="roundRect">
            <a:avLst>
              <a:gd name="adj" fmla="val 8889"/>
            </a:avLst>
          </a:prstGeom>
          <a:solidFill>
            <a:srgbClr val="F3F1FB"/>
          </a:solidFill>
          <a:ln w="12700">
            <a:solidFill>
              <a:srgbClr val="F3F1F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85800" y="10972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link is most likely a fake login page for examplebank.com?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C9C4E0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66928" y="2606040"/>
            <a:ext cx="384048" cy="384048"/>
          </a:xfrm>
          <a:prstGeom prst="ellipse">
            <a:avLst/>
          </a:prstGeom>
          <a:solidFill>
            <a:srgbClr val="14102B"/>
          </a:solidFill>
          <a:ln w="12700">
            <a:solidFill>
              <a:srgbClr val="14102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566928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51460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https://www.examplebank.com/login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C9C4E0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66928" y="3291840"/>
            <a:ext cx="384048" cy="384048"/>
          </a:xfrm>
          <a:prstGeom prst="ellipse">
            <a:avLst/>
          </a:prstGeom>
          <a:solidFill>
            <a:srgbClr val="14102B"/>
          </a:solidFill>
          <a:ln w="12700">
            <a:solidFill>
              <a:srgbClr val="14102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566928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20040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https://examplebank.com.secure-verify.xyz/login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886200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C9C4E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66928" y="3977640"/>
            <a:ext cx="384048" cy="384048"/>
          </a:xfrm>
          <a:prstGeom prst="ellipse">
            <a:avLst/>
          </a:prstGeom>
          <a:solidFill>
            <a:srgbClr val="14102B"/>
          </a:solidFill>
          <a:ln w="12700">
            <a:solidFill>
              <a:srgbClr val="14102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566928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88620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https://online.examplebank.com/accounts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2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92240" y="384048"/>
            <a:ext cx="2194560" cy="502920"/>
          </a:xfrm>
          <a:prstGeom prst="roundRect">
            <a:avLst>
              <a:gd name="adj" fmla="val 21818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492240" y="3840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Next question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1097280"/>
          </a:xfrm>
          <a:prstGeom prst="roundRect">
            <a:avLst>
              <a:gd name="adj" fmla="val 10000"/>
            </a:avLst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3716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4008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A6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143000"/>
            <a:ext cx="7040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https://examplebank.com.secure-verify.xyz/login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8229600" cy="1645920"/>
          </a:xfrm>
          <a:prstGeom prst="roundRect">
            <a:avLst>
              <a:gd name="adj" fmla="val 6667"/>
            </a:avLst>
          </a:prstGeom>
          <a:solidFill>
            <a:srgbClr val="F3F1FB"/>
          </a:solidFill>
          <a:ln w="12700">
            <a:solidFill>
              <a:srgbClr val="F3F1F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85800" y="2560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0175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registered domain is secure-verify.xyz. The text examplebank.com is only a subdomain label and does not make the website legitimate.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3 of 5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92240" y="384048"/>
            <a:ext cx="2194560" cy="502920"/>
          </a:xfrm>
          <a:prstGeom prst="roundRect">
            <a:avLst>
              <a:gd name="adj" fmla="val 21818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492240" y="3840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Show answer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Show answer →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1234440"/>
          </a:xfrm>
          <a:prstGeom prst="roundRect">
            <a:avLst>
              <a:gd name="adj" fmla="val 8889"/>
            </a:avLst>
          </a:prstGeom>
          <a:solidFill>
            <a:srgbClr val="F3F1FB"/>
          </a:solidFill>
          <a:ln w="12700">
            <a:solidFill>
              <a:srgbClr val="F3F1F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85800" y="10972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an SMS: "Your bank KYC expires today. Update now" with a short link. What is the best response?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C9C4E0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66928" y="2606040"/>
            <a:ext cx="384048" cy="384048"/>
          </a:xfrm>
          <a:prstGeom prst="ellipse">
            <a:avLst/>
          </a:prstGeom>
          <a:solidFill>
            <a:srgbClr val="14102B"/>
          </a:solidFill>
          <a:ln w="12700">
            <a:solidFill>
              <a:srgbClr val="14102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566928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51460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link and update your details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C9C4E0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66928" y="3291840"/>
            <a:ext cx="384048" cy="384048"/>
          </a:xfrm>
          <a:prstGeom prst="ellipse">
            <a:avLst/>
          </a:prstGeom>
          <a:solidFill>
            <a:srgbClr val="14102B"/>
          </a:solidFill>
          <a:ln w="12700">
            <a:solidFill>
              <a:srgbClr val="14102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566928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20040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link but skip the OTP step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886200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C9C4E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66928" y="3977640"/>
            <a:ext cx="384048" cy="384048"/>
          </a:xfrm>
          <a:prstGeom prst="ellipse">
            <a:avLst/>
          </a:prstGeom>
          <a:solidFill>
            <a:srgbClr val="14102B"/>
          </a:solidFill>
          <a:ln w="12700">
            <a:solidFill>
              <a:srgbClr val="14102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566928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88620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the link and check in the bank's official app or website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3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92240" y="384048"/>
            <a:ext cx="2194560" cy="502920"/>
          </a:xfrm>
          <a:prstGeom prst="roundRect">
            <a:avLst>
              <a:gd name="adj" fmla="val 21818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492240" y="3840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Next question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1097280"/>
          </a:xfrm>
          <a:prstGeom prst="roundRect">
            <a:avLst>
              <a:gd name="adj" fmla="val 10000"/>
            </a:avLst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3716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4008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A6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143000"/>
            <a:ext cx="7040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the link and check in the bank's official app or website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8229600" cy="1645920"/>
          </a:xfrm>
          <a:prstGeom prst="roundRect">
            <a:avLst>
              <a:gd name="adj" fmla="val 6667"/>
            </a:avLst>
          </a:prstGeom>
          <a:solidFill>
            <a:srgbClr val="F3F1FB"/>
          </a:solidFill>
          <a:ln w="12700">
            <a:solidFill>
              <a:srgbClr val="F3F1F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85800" y="2560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0175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Fear, a deadline and a shortened link point to smishing. Do not use the link; check your account status in the app or website you already trust.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4 of 5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92240" y="384048"/>
            <a:ext cx="2194560" cy="502920"/>
          </a:xfrm>
          <a:prstGeom prst="roundRect">
            <a:avLst>
              <a:gd name="adj" fmla="val 21818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492240" y="3840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Show answer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Show answer →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1234440"/>
          </a:xfrm>
          <a:prstGeom prst="roundRect">
            <a:avLst>
              <a:gd name="adj" fmla="val 8889"/>
            </a:avLst>
          </a:prstGeom>
          <a:solidFill>
            <a:srgbClr val="F3F1FB"/>
          </a:solidFill>
          <a:ln w="12700">
            <a:solidFill>
              <a:srgbClr val="F3F1F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85800" y="10972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caller says they are from your bank and asks for the OTP to stop a fraud transaction. What do you do?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C9C4E0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66928" y="2606040"/>
            <a:ext cx="384048" cy="384048"/>
          </a:xfrm>
          <a:prstGeom prst="ellipse">
            <a:avLst/>
          </a:prstGeom>
          <a:solidFill>
            <a:srgbClr val="14102B"/>
          </a:solidFill>
          <a:ln w="12700">
            <a:solidFill>
              <a:srgbClr val="14102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566928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51460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it, it is to protect you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C9C4E0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66928" y="3291840"/>
            <a:ext cx="384048" cy="384048"/>
          </a:xfrm>
          <a:prstGeom prst="ellipse">
            <a:avLst/>
          </a:prstGeom>
          <a:solidFill>
            <a:srgbClr val="14102B"/>
          </a:solidFill>
          <a:ln w="12700">
            <a:solidFill>
              <a:srgbClr val="14102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566928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20040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only the last 3 digits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886200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C9C4E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66928" y="3977640"/>
            <a:ext cx="384048" cy="384048"/>
          </a:xfrm>
          <a:prstGeom prst="ellipse">
            <a:avLst/>
          </a:prstGeom>
          <a:solidFill>
            <a:srgbClr val="14102B"/>
          </a:solidFill>
          <a:ln w="12700">
            <a:solidFill>
              <a:srgbClr val="14102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566928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88620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 up and call the bank's official number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4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92240" y="384048"/>
            <a:ext cx="2194560" cy="502920"/>
          </a:xfrm>
          <a:prstGeom prst="roundRect">
            <a:avLst>
              <a:gd name="adj" fmla="val 21818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492240" y="3840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Next question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1097280"/>
          </a:xfrm>
          <a:prstGeom prst="roundRect">
            <a:avLst>
              <a:gd name="adj" fmla="val 10000"/>
            </a:avLst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3716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4008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A6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143000"/>
            <a:ext cx="7040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 up and call the bank's official number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8229600" cy="1645920"/>
          </a:xfrm>
          <a:prstGeom prst="roundRect">
            <a:avLst>
              <a:gd name="adj" fmla="val 6667"/>
            </a:avLst>
          </a:prstGeom>
          <a:solidFill>
            <a:srgbClr val="F3F1FB"/>
          </a:solidFill>
          <a:ln w="12700">
            <a:solidFill>
              <a:srgbClr val="F3F1F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85800" y="2560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0175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OTP is the key that approves a transaction. Banks tell customers never to share it. End the call and dial the number on your card or the bank's website.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5 of 5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92240" y="384048"/>
            <a:ext cx="2194560" cy="502920"/>
          </a:xfrm>
          <a:prstGeom prst="roundRect">
            <a:avLst>
              <a:gd name="adj" fmla="val 21818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492240" y="3840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Show answer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Show answer →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1234440"/>
          </a:xfrm>
          <a:prstGeom prst="roundRect">
            <a:avLst>
              <a:gd name="adj" fmla="val 8889"/>
            </a:avLst>
          </a:prstGeom>
          <a:solidFill>
            <a:srgbClr val="F3F1FB"/>
          </a:solidFill>
          <a:ln w="12700">
            <a:solidFill>
              <a:srgbClr val="F3F1F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85800" y="10972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boss emails you to urgently buy gift cards and send the codes. The email looks right, but it is unusual. What do you do?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C9C4E0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66928" y="2606040"/>
            <a:ext cx="384048" cy="384048"/>
          </a:xfrm>
          <a:prstGeom prst="ellipse">
            <a:avLst/>
          </a:prstGeom>
          <a:solidFill>
            <a:srgbClr val="14102B"/>
          </a:solidFill>
          <a:ln w="12700">
            <a:solidFill>
              <a:srgbClr val="14102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566928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51460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them, it is your boss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C9C4E0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66928" y="3291840"/>
            <a:ext cx="384048" cy="384048"/>
          </a:xfrm>
          <a:prstGeom prst="ellipse">
            <a:avLst/>
          </a:prstGeom>
          <a:solidFill>
            <a:srgbClr val="14102B"/>
          </a:solidFill>
          <a:ln w="12700">
            <a:solidFill>
              <a:srgbClr val="14102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566928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20040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with the codes once you buy them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886200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C9C4E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66928" y="3977640"/>
            <a:ext cx="384048" cy="384048"/>
          </a:xfrm>
          <a:prstGeom prst="ellipse">
            <a:avLst/>
          </a:prstGeom>
          <a:solidFill>
            <a:srgbClr val="14102B"/>
          </a:solidFill>
          <a:ln w="12700">
            <a:solidFill>
              <a:srgbClr val="14102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566928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88620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by calling or messaging your boss on a known number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5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92240" y="384048"/>
            <a:ext cx="2194560" cy="502920"/>
          </a:xfrm>
          <a:prstGeom prst="roundRect">
            <a:avLst>
              <a:gd name="adj" fmla="val 21818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492240" y="3840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Finish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Finish →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1097280"/>
          </a:xfrm>
          <a:prstGeom prst="roundRect">
            <a:avLst>
              <a:gd name="adj" fmla="val 10000"/>
            </a:avLst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3716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4008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A6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143000"/>
            <a:ext cx="7040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by calling or messaging your boss on a known number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8229600" cy="1645920"/>
          </a:xfrm>
          <a:prstGeom prst="roundRect">
            <a:avLst>
              <a:gd name="adj" fmla="val 6667"/>
            </a:avLst>
          </a:prstGeom>
          <a:solidFill>
            <a:srgbClr val="F3F1FB"/>
          </a:solidFill>
          <a:ln w="12700">
            <a:solidFill>
              <a:srgbClr val="F3F1F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85800" y="2560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0175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plus urgency plus an unusual payment request is a common scam pattern. A sender name can be faked, so confirm through a second channel you already trust.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2468880"/>
          </a:xfrm>
          <a:prstGeom prst="roundRect">
            <a:avLst>
              <a:gd name="adj" fmla="val 4444"/>
            </a:avLst>
          </a:prstGeom>
          <a:solidFill>
            <a:srgbClr val="231C47"/>
          </a:solidFill>
          <a:ln w="12700">
            <a:solidFill>
              <a:srgbClr val="231C47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85800" y="1508760"/>
            <a:ext cx="502920" cy="5029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94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Pause before you click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8346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and fear are the attacker's tools. Slow down.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1280160"/>
            <a:ext cx="2651760" cy="2468880"/>
          </a:xfrm>
          <a:prstGeom prst="roundRect">
            <a:avLst>
              <a:gd name="adj" fmla="val 4444"/>
            </a:avLst>
          </a:prstGeom>
          <a:solidFill>
            <a:srgbClr val="231C47"/>
          </a:solidFill>
          <a:ln w="12700">
            <a:solidFill>
              <a:srgbClr val="231C47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474720" y="1508760"/>
            <a:ext cx="502920" cy="5029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347472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194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another way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8346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official app, site or phone number you already know.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280160"/>
            <a:ext cx="2651760" cy="2468880"/>
          </a:xfrm>
          <a:prstGeom prst="roundRect">
            <a:avLst>
              <a:gd name="adj" fmla="val 4444"/>
            </a:avLst>
          </a:prstGeom>
          <a:solidFill>
            <a:srgbClr val="231C47"/>
          </a:solidFill>
          <a:ln w="12700">
            <a:solidFill>
              <a:srgbClr val="231C47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263640" y="1508760"/>
            <a:ext cx="502920" cy="5029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263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2194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fast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8346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your IT team or bank, and report fraud to 1930.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Submission: GitHub repo CodeAlpha_PhishingAwareness · LinkedIn video with repo link · Submission Form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References &amp; Further Reading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/>
            </a:pPr>
            <a:r>
              <a:t>CISA — Recognize and Report Phishing: https://www.cisa.gov/secure-our-world/recognize-and-report-phishing</a:t>
            </a:r>
          </a:p>
          <a:p>
            <a:pPr>
              <a:spcAft>
                <a:spcPts val="1600"/>
              </a:spcAft>
              <a:defRPr sz="1700"/>
            </a:pPr>
            <a:r>
              <a:t>FTC — How to Recognize and Avoid Phishing Scams: https://consumer.ftc.gov/articles/how-recognize-and-avoid-phishing-scams</a:t>
            </a:r>
          </a:p>
          <a:p>
            <a:pPr>
              <a:spcAft>
                <a:spcPts val="1600"/>
              </a:spcAft>
              <a:defRPr sz="1700"/>
            </a:pPr>
            <a:r>
              <a:t>Google Safety Center — Security tips: https://safety.google/security/security-tips/</a:t>
            </a:r>
          </a:p>
          <a:p>
            <a:pPr>
              <a:spcAft>
                <a:spcPts val="1600"/>
              </a:spcAft>
              <a:defRPr sz="1700"/>
            </a:pPr>
            <a:r>
              <a:t>Indian Cyber Crime Portal — Report cyber crime: https://cybercrime.gov.in/</a:t>
            </a:r>
          </a:p>
          <a:p>
            <a:pPr>
              <a:spcAft>
                <a:spcPts val="1600"/>
              </a:spcAft>
              <a:defRPr sz="1700"/>
            </a:pPr>
            <a:r>
              <a:t>India cyber fraud helpline: 1930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hishingAwareness2">
  <a:themeElements>
    <a:clrScheme name="PhishingAwareness2">
      <a:dk1>
        <a:srgbClr val="14102B"/>
      </a:dk1>
      <a:lt1>
        <a:srgbClr val="FFFFFF"/>
      </a:lt1>
      <a:dk2>
        <a:srgbClr val="231C47"/>
      </a:dk2>
      <a:lt2>
        <a:srgbClr val="F3F1FB"/>
      </a:lt2>
      <a:accent1>
        <a:srgbClr val="FF6B35"/>
      </a:accent1>
      <a:accent2>
        <a:srgbClr val="0F8B82"/>
      </a:accent2>
      <a:accent3>
        <a:srgbClr val="FFB84D"/>
      </a:accent3>
      <a:accent4>
        <a:srgbClr val="D7263D"/>
      </a:accent4>
      <a:accent5>
        <a:srgbClr val="1FA67A"/>
      </a:accent5>
      <a:accent6>
        <a:srgbClr val="B8B2D6"/>
      </a:accent6>
      <a:hlink>
        <a:srgbClr val="14102B"/>
      </a:hlink>
      <a:folHlink>
        <a:srgbClr val="6B6785"/>
      </a:folHlink>
    </a:clrScheme>
    <a:fontScheme name="PhishingAwareness2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 - CodeAlpha Task 2</dc:title>
  <dc:subject>PptxGenJS Presentation</dc:subject>
  <dc:creator>PptxGenJS</dc:creator>
  <cp:lastModifiedBy>PptxGenJS</cp:lastModifiedBy>
  <cp:revision>1</cp:revision>
  <dcterms:created xsi:type="dcterms:W3CDTF">2026-10-20T10:42:27Z</dcterms:created>
  <dcterms:modified xsi:type="dcterms:W3CDTF">2026-10-20T10:42:27Z</dcterms:modified>
</cp:coreProperties>
</file>